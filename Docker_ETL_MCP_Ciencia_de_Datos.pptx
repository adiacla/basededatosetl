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1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9997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jpe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8778240" y="-548640"/>
            <a:ext cx="4114800" cy="4114800"/>
          </a:xfrm>
          <a:prstGeom prst="rect">
            <a:avLst/>
          </a:prstGeom>
          <a:solidFill>
            <a:srgbClr val="0F2A4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 rot="1200000">
            <a:off x="10058400" y="4206240"/>
            <a:ext cx="2926080" cy="29260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 rot="900000">
            <a:off x="-731520" y="5120640"/>
            <a:ext cx="2377440" cy="23774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ETL Y MCP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Contenedores y Automatización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Ciencia de Datos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reproducibilidad de entornos con Docker al ciclo ETL moderno,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SQL, APIs y el nuevo estándar Model Context Protocol (MCP)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9" name="Image 0" descr="/home/claude/docker_pptx/icon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5744261"/>
            <a:ext cx="261518" cy="261518"/>
          </a:xfrm>
          <a:prstGeom prst="rect">
            <a:avLst/>
          </a:prstGeom>
        </p:spPr>
      </p:pic>
      <p:pic>
        <p:nvPicPr>
          <p:cNvPr id="10" name="Imagen 9" descr="qué es Docker">
            <a:extLst>
              <a:ext uri="{FF2B5EF4-FFF2-40B4-BE49-F238E27FC236}">
                <a16:creationId xmlns:a16="http://schemas.microsoft.com/office/drawing/2014/main" id="{73B7285A-60DE-38E2-AF72-0EBD2E3B4A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138726"/>
            <a:ext cx="3810000" cy="3152775"/>
          </a:xfrm>
          <a:prstGeom prst="rect">
            <a:avLst/>
          </a:prstGeom>
        </p:spPr>
      </p:pic>
      <p:pic>
        <p:nvPicPr>
          <p:cNvPr id="11" name="Imagen 10" descr="Apache Airflow Icon &amp; Logo | Dashboard Icons &amp; Logos">
            <a:extLst>
              <a:ext uri="{FF2B5EF4-FFF2-40B4-BE49-F238E27FC236}">
                <a16:creationId xmlns:a16="http://schemas.microsoft.com/office/drawing/2014/main" id="{0B05C4D5-F283-3AE8-3438-138502C6CB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1623" y="4488701"/>
            <a:ext cx="1848034" cy="18480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Nueve conceptos clave para entender el flujo moderno de datos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371600"/>
          </a:xfrm>
          <a:prstGeom prst="rect">
            <a:avLst/>
          </a:prstGeom>
          <a:solidFill>
            <a:srgbClr val="F7F9F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253288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Docker?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1783080"/>
            <a:ext cx="3566160" cy="1371600"/>
          </a:xfrm>
          <a:prstGeom prst="rect">
            <a:avLst/>
          </a:prstGeom>
          <a:solidFill>
            <a:srgbClr val="F7F9F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572000" y="19202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0" y="253288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vs. instalación nativa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38160" y="1783080"/>
            <a:ext cx="3566160" cy="1371600"/>
          </a:xfrm>
          <a:prstGeom prst="rect">
            <a:avLst/>
          </a:prstGeom>
          <a:solidFill>
            <a:srgbClr val="F7F9F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8366760" y="19202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366760" y="253288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 para el científico de datos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410712"/>
            <a:ext cx="3566160" cy="1371600"/>
          </a:xfrm>
          <a:prstGeom prst="rect">
            <a:avLst/>
          </a:prstGeom>
          <a:solidFill>
            <a:srgbClr val="F7F9F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777240" y="3547872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77240" y="41605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y CI/CD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43400" y="3410712"/>
            <a:ext cx="3566160" cy="1371600"/>
          </a:xfrm>
          <a:prstGeom prst="rect">
            <a:avLst/>
          </a:prstGeom>
          <a:solidFill>
            <a:srgbClr val="F7F9F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572000" y="3547872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572000" y="41605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CRISP-DM: notebooks vs. ETL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138160" y="3410712"/>
            <a:ext cx="3566160" cy="1371600"/>
          </a:xfrm>
          <a:prstGeom prst="rect">
            <a:avLst/>
          </a:prstGeom>
          <a:solidFill>
            <a:srgbClr val="F7F9F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8366760" y="3547872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366760" y="41605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 de datos y Data Warehouse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038344"/>
            <a:ext cx="3566160" cy="1371600"/>
          </a:xfrm>
          <a:prstGeom prst="rect">
            <a:avLst/>
          </a:prstGeom>
          <a:solidFill>
            <a:srgbClr val="F7F9F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777240" y="5175504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77240" y="578815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ETL para analítica y ML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343400" y="5038344"/>
            <a:ext cx="3566160" cy="1371600"/>
          </a:xfrm>
          <a:prstGeom prst="rect">
            <a:avLst/>
          </a:prstGeom>
          <a:solidFill>
            <a:srgbClr val="F7F9F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572000" y="5175504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572000" y="578815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ETL e ingestión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138160" y="5038344"/>
            <a:ext cx="3566160" cy="1371600"/>
          </a:xfrm>
          <a:prstGeom prst="rect">
            <a:avLst/>
          </a:prstGeom>
          <a:solidFill>
            <a:srgbClr val="F7F9F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8366760" y="5175504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8366760" y="578815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API y MCP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Automatización de Datos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Docker y para qué sirve?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533" y="1180956"/>
            <a:ext cx="4206240" cy="5357004"/>
          </a:xfrm>
          <a:prstGeom prst="rect">
            <a:avLst/>
          </a:prstGeom>
          <a:solidFill>
            <a:srgbClr val="0F2A4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3"/>
          <p:cNvSpPr/>
          <p:nvPr/>
        </p:nvSpPr>
        <p:spPr>
          <a:xfrm>
            <a:off x="822960" y="4381356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“cajita” virtual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22960" y="4609956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Empaqueta código, librerías, dependencias y configuración para que una aplicación funcione igual en cualquier computador, sin instalar nada más.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0" y="1318116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5303520" y="1135236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303520" y="1565004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contenedor es independiente del resto del sistema, lo que evita conflictos entre aplicaciones.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0" y="2614514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5303520" y="2431634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básica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303520" y="2861402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empaquetar una aplicación para ejecutarla de la misma forma en cualquier equipo.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0" y="3882705"/>
            <a:ext cx="6492240" cy="1554480"/>
          </a:xfrm>
          <a:prstGeom prst="rect">
            <a:avLst/>
          </a:prstGeom>
          <a:solidFill>
            <a:srgbClr val="E7F1F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5303520" y="4065585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pocas palabras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03520" y="4431345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convierte “en mi máquina funciona” en “funciona en cualquier máquina”.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Automatización de Datos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19" name="Imagen 18" descr="Proceso de creación de un contenedor en Docker">
            <a:extLst>
              <a:ext uri="{FF2B5EF4-FFF2-40B4-BE49-F238E27FC236}">
                <a16:creationId xmlns:a16="http://schemas.microsoft.com/office/drawing/2014/main" id="{D73B97C4-7484-49EA-6E7A-D307433D8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3859" y="5512490"/>
            <a:ext cx="4678754" cy="1215379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844554CC-D636-B41D-A007-835A52569B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064" y="1657670"/>
            <a:ext cx="3419952" cy="23339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27DD9A5-15F0-8C13-F1B4-9112CF379AE7}"/>
              </a:ext>
            </a:extLst>
          </p:cNvPr>
          <p:cNvSpPr txBox="1"/>
          <p:nvPr/>
        </p:nvSpPr>
        <p:spPr>
          <a:xfrm>
            <a:off x="654960" y="1291483"/>
            <a:ext cx="10851599" cy="2308324"/>
          </a:xfrm>
          <a:prstGeom prst="rect">
            <a:avLst/>
          </a:prstGeom>
          <a:solidFill>
            <a:schemeClr val="accent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l"/>
            <a:r>
              <a:rPr lang="es-CO" b="1" i="0" dirty="0" err="1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Dockerfile</a:t>
            </a:r>
            <a:r>
              <a:rPr lang="es-CO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:</a:t>
            </a:r>
            <a:r>
              <a:rPr lang="es-CO" b="0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 es el documento de texto sobre el que podemos agrupar una serie de comandos con el fin que se ejecuten todos a la vez evitando así tener que ejecutarlos uno a uno manualmente con el fin de que el proceso de crear una imagen de Docker sea mucho más rápido y más eficiente.</a:t>
            </a:r>
          </a:p>
          <a:p>
            <a:pPr algn="l"/>
            <a:endParaRPr lang="es-CO" b="0" i="0" dirty="0">
              <a:solidFill>
                <a:schemeClr val="bg1"/>
              </a:solidFill>
              <a:effectLst/>
              <a:latin typeface="Lato" panose="020F0502020204030203" pitchFamily="34" charset="0"/>
            </a:endParaRPr>
          </a:p>
          <a:p>
            <a:pPr algn="l"/>
            <a:r>
              <a:rPr lang="es-CO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Docker </a:t>
            </a:r>
            <a:r>
              <a:rPr lang="es-CO" b="1" i="0" dirty="0" err="1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image</a:t>
            </a:r>
            <a:r>
              <a:rPr lang="es-CO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:</a:t>
            </a:r>
            <a:r>
              <a:rPr lang="es-CO" b="0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 una imagen de Docker, contiene las librerías, junto al código de la aplicación que contiene todo lo necesario para ejecutar nuestra aplicación.</a:t>
            </a:r>
          </a:p>
          <a:p>
            <a:pPr algn="l"/>
            <a:endParaRPr lang="es-CO" b="0" i="0" dirty="0">
              <a:solidFill>
                <a:schemeClr val="bg1"/>
              </a:solidFill>
              <a:effectLst/>
              <a:latin typeface="Lato" panose="020F0502020204030203" pitchFamily="34" charset="0"/>
            </a:endParaRPr>
          </a:p>
          <a:p>
            <a:pPr algn="l"/>
            <a:r>
              <a:rPr lang="es-CO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Container:</a:t>
            </a:r>
            <a:r>
              <a:rPr lang="es-CO" b="0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 es una imagen de Docker cuando empieza a funcionar, es decir, cuando cobra vida.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6BE2E20-1E1E-8EF4-F93B-64F90B6C9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932" y="4031361"/>
            <a:ext cx="4123696" cy="235379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9D876C6-2E9C-C291-6378-B518618C4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902" y="4092729"/>
            <a:ext cx="4387397" cy="235379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Text 0">
            <a:extLst>
              <a:ext uri="{FF2B5EF4-FFF2-40B4-BE49-F238E27FC236}">
                <a16:creationId xmlns:a16="http://schemas.microsoft.com/office/drawing/2014/main" id="{201D0E16-FB65-4DF6-79CC-1B5FC112020F}"/>
              </a:ext>
            </a:extLst>
          </p:cNvPr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Artefactos</a:t>
            </a: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b="1" dirty="0" err="1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</a:t>
            </a: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Docker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8471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Docker en lugar de instalación nativa?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61979"/>
            <a:ext cx="3447461" cy="3269411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868680" y="1482019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3"/>
          <p:cNvSpPr/>
          <p:nvPr/>
        </p:nvSpPr>
        <p:spPr>
          <a:xfrm>
            <a:off x="868680" y="2533579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Portabilidad total</a:t>
            </a:r>
            <a:endParaRPr lang="en-US" sz="1650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868680" y="3150366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igual en Windows, macOS y Linux: lo que corre en tu máquina, corre en la de todos.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4352544" y="1196485"/>
            <a:ext cx="3447461" cy="3269411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4736592" y="1482019"/>
            <a:ext cx="822960" cy="822960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7"/>
          <p:cNvSpPr/>
          <p:nvPr/>
        </p:nvSpPr>
        <p:spPr>
          <a:xfrm>
            <a:off x="4736592" y="2533579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Entornos idénticos</a:t>
            </a:r>
            <a:endParaRPr lang="en-US" sz="1650" dirty="0">
              <a:solidFill>
                <a:schemeClr val="bg1"/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4736592" y="3150366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equipo usa las mismas versiones de librerías y herramientas (MySQL, MongoDB, Airflow), eliminando el clásico “en mi máquina sí funciona”.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13" name="Shape 9"/>
          <p:cNvSpPr/>
          <p:nvPr/>
        </p:nvSpPr>
        <p:spPr>
          <a:xfrm>
            <a:off x="8284464" y="1161979"/>
            <a:ext cx="3447461" cy="3269411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0"/>
          <p:cNvSpPr/>
          <p:nvPr/>
        </p:nvSpPr>
        <p:spPr>
          <a:xfrm>
            <a:off x="8604504" y="1482019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5" name="Image 2" descr="/home/claude/docker_pptx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2014" y="1679529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04504" y="2533579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Ahorro de tiempo y seguridad</a:t>
            </a:r>
            <a:endParaRPr lang="en-US" sz="1650" dirty="0">
              <a:solidFill>
                <a:schemeClr val="bg1"/>
              </a:solidFill>
            </a:endParaRPr>
          </a:p>
        </p:txBody>
      </p:sp>
      <p:sp>
        <p:nvSpPr>
          <p:cNvPr id="17" name="Text 12"/>
          <p:cNvSpPr/>
          <p:nvPr/>
        </p:nvSpPr>
        <p:spPr>
          <a:xfrm>
            <a:off x="8604504" y="3150366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configuraciones locales complicadas y permite probar software sin riesgo de dañar el sistema operativo nativo.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18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Automatización de Datos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21" name="Gráfico 20" descr="Crucero con relleno sólido">
            <a:extLst>
              <a:ext uri="{FF2B5EF4-FFF2-40B4-BE49-F238E27FC236}">
                <a16:creationId xmlns:a16="http://schemas.microsoft.com/office/drawing/2014/main" id="{23046FF0-3EAE-E708-0346-6A4009170D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4751" y="1473790"/>
            <a:ext cx="716889" cy="716889"/>
          </a:xfrm>
          <a:prstGeom prst="rect">
            <a:avLst/>
          </a:prstGeom>
        </p:spPr>
      </p:pic>
      <p:pic>
        <p:nvPicPr>
          <p:cNvPr id="23" name="Gráfico 22" descr="Disco con relleno sólido">
            <a:extLst>
              <a:ext uri="{FF2B5EF4-FFF2-40B4-BE49-F238E27FC236}">
                <a16:creationId xmlns:a16="http://schemas.microsoft.com/office/drawing/2014/main" id="{456BFBBA-FED2-1DB4-1489-F2FB6EFCCD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01142" y="1609475"/>
            <a:ext cx="545620" cy="545620"/>
          </a:xfrm>
          <a:prstGeom prst="rect">
            <a:avLst/>
          </a:prstGeom>
        </p:spPr>
      </p:pic>
      <p:pic>
        <p:nvPicPr>
          <p:cNvPr id="24" name="Imagen 23" descr="docker">
            <a:extLst>
              <a:ext uri="{FF2B5EF4-FFF2-40B4-BE49-F238E27FC236}">
                <a16:creationId xmlns:a16="http://schemas.microsoft.com/office/drawing/2014/main" id="{DF8F9E83-7A8D-8802-33F6-79BB64EB9C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5466" y="4529351"/>
            <a:ext cx="3304539" cy="22643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Importancia para el Científico de Datos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/home/claude/docker_pptx/icon_sy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8" y="1878178"/>
            <a:ext cx="404165" cy="4041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16459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Reproducibilidad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600200" y="2075688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en Inteligencia Artificial para entrenar o desplegar modelos, conservando las versiones exactas de todos los componentes.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320040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8" name="Image 1" descr="/home/claude/docker_pptx/icon_gr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78" y="3386938"/>
            <a:ext cx="404165" cy="4041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31546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técnico compartido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600200" y="3584448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la instalación suele ser tarea de ingeniería o nube, conocer estos temas permite comunicar requerimientos en términos técnicos precisos.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47091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2" name="Image 2" descr="/home/claude/docker_pptx/icon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78" y="4895698"/>
            <a:ext cx="404165" cy="40416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46634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competitiva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600200" y="5093208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levantar rápidamente entornos con Jupyter, pandas, scikit-learn y bases de datos, sin instalaciones manuales tediosas.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Automatización de Datos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4">
            <a:extLst>
              <a:ext uri="{FF2B5EF4-FFF2-40B4-BE49-F238E27FC236}">
                <a16:creationId xmlns:a16="http://schemas.microsoft.com/office/drawing/2014/main" id="{908FACC1-F9B1-4B57-64EA-A7A5A7BC2B70}"/>
              </a:ext>
            </a:extLst>
          </p:cNvPr>
          <p:cNvSpPr/>
          <p:nvPr/>
        </p:nvSpPr>
        <p:spPr>
          <a:xfrm>
            <a:off x="5189220" y="925720"/>
            <a:ext cx="6355080" cy="1719072"/>
          </a:xfrm>
          <a:prstGeom prst="rect">
            <a:avLst/>
          </a:prstGeom>
          <a:solidFill>
            <a:srgbClr val="E7F1F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Compose, Portabilidad y CI/CD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40680" y="1046720"/>
            <a:ext cx="5711289" cy="28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solo archivo, todos los servicios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40680" y="1778240"/>
            <a:ext cx="571128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 define y orquesta MySQL, MongoDB y Airflow, permitiendo levantar todo el entorno con un único comando.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189220" y="2929999"/>
            <a:ext cx="6355080" cy="1719072"/>
          </a:xfrm>
          <a:prstGeom prst="rect">
            <a:avLst/>
          </a:prstGeom>
          <a:solidFill>
            <a:srgbClr val="E7F1F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5463540" y="2977895"/>
            <a:ext cx="5852160" cy="4093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Portabilidad y compartición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5463540" y="3529583"/>
            <a:ext cx="5852160" cy="9823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generar imágenes personalizadas y compartir entornos completos con todo el equipo.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166360" y="4791456"/>
            <a:ext cx="6355080" cy="1719072"/>
          </a:xfrm>
          <a:prstGeom prst="rect">
            <a:avLst/>
          </a:prstGeom>
          <a:solidFill>
            <a:srgbClr val="E7F1F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5440680" y="4839352"/>
            <a:ext cx="5852160" cy="4093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en CI/CD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5440680" y="5391040"/>
            <a:ext cx="5852160" cy="9823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integración y despliegue continuo, los contenedores garantizan que el entorno de pruebas sea idéntico al de producción, mejorando confiabilidad y velocidad.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Automatización de Datos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BA29E57D-A3EF-780F-35A1-10BE31410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90" y="1138884"/>
            <a:ext cx="4352589" cy="53013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CRISP-DM: Notebooks vs. ETL Automatizado</a:t>
            </a:r>
            <a:endParaRPr lang="en-US" sz="3200" dirty="0"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35E176FE-FEC9-19FB-D2F0-61D8AEA62EBE}"/>
              </a:ext>
            </a:extLst>
          </p:cNvPr>
          <p:cNvGrpSpPr/>
          <p:nvPr/>
        </p:nvGrpSpPr>
        <p:grpSpPr>
          <a:xfrm>
            <a:off x="992523" y="3861785"/>
            <a:ext cx="4147647" cy="2804336"/>
            <a:chOff x="548640" y="1938057"/>
            <a:chExt cx="5303520" cy="3765846"/>
          </a:xfrm>
        </p:grpSpPr>
        <p:sp>
          <p:nvSpPr>
            <p:cNvPr id="3" name="Shape 1"/>
            <p:cNvSpPr/>
            <p:nvPr/>
          </p:nvSpPr>
          <p:spPr>
            <a:xfrm>
              <a:off x="548640" y="1938057"/>
              <a:ext cx="5303520" cy="3593743"/>
            </a:xfrm>
            <a:prstGeom prst="rect">
              <a:avLst/>
            </a:prstGeom>
            <a:solidFill>
              <a:srgbClr val="F7F9FB"/>
            </a:solidFill>
            <a:ln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endParaRPr lang="es-CO"/>
            </a:p>
          </p:txBody>
        </p:sp>
        <p:sp>
          <p:nvSpPr>
            <p:cNvPr id="6" name="Text 3"/>
            <p:cNvSpPr/>
            <p:nvPr/>
          </p:nvSpPr>
          <p:spPr>
            <a:xfrm>
              <a:off x="1760220" y="2183463"/>
              <a:ext cx="39319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0F2A43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Limitación de los notebooks</a:t>
              </a:r>
              <a:endParaRPr lang="en-US" sz="17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891540" y="2960703"/>
              <a:ext cx="4709160" cy="2743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40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Excelentes para la fase de limpieza y transformación inicial en CRISP-DM, pero no son ideales para procesos que requieren actualizaciones periódicas.</a:t>
              </a:r>
              <a:endParaRPr lang="en-US" sz="1400" dirty="0"/>
            </a:p>
          </p:txBody>
        </p:sp>
      </p:grpSp>
      <p:sp>
        <p:nvSpPr>
          <p:cNvPr id="8" name="Shape 5"/>
          <p:cNvSpPr/>
          <p:nvPr/>
        </p:nvSpPr>
        <p:spPr>
          <a:xfrm>
            <a:off x="6309360" y="3369972"/>
            <a:ext cx="5303520" cy="3167988"/>
          </a:xfrm>
          <a:prstGeom prst="rect">
            <a:avLst/>
          </a:prstGeom>
          <a:solidFill>
            <a:srgbClr val="0F2A4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7"/>
          <p:cNvSpPr/>
          <p:nvPr/>
        </p:nvSpPr>
        <p:spPr>
          <a:xfrm>
            <a:off x="7498080" y="3384667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Necesidad de automatización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629400" y="4161907"/>
            <a:ext cx="4709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en producción requieren que los nuevos datos reciban el mismo procesamiento automáticamente; las aplicaciones ETL lo garantizan sin intervención manual y con manejo de errores.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Automatización de Datos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C1F0ED45-D8C1-1E64-59A7-A68D92631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065" y="1250516"/>
            <a:ext cx="2315295" cy="2406990"/>
          </a:xfrm>
          <a:prstGeom prst="rect">
            <a:avLst/>
          </a:prstGeom>
        </p:spPr>
      </p:pic>
      <p:pic>
        <p:nvPicPr>
          <p:cNvPr id="18" name="Imagen 17" descr="Extracción Transformación y Carga ETL | Bismart">
            <a:extLst>
              <a:ext uri="{FF2B5EF4-FFF2-40B4-BE49-F238E27FC236}">
                <a16:creationId xmlns:a16="http://schemas.microsoft.com/office/drawing/2014/main" id="{D97FF645-A72A-3FFB-DE93-74FD07EE1A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461" y="1156770"/>
            <a:ext cx="3882871" cy="16778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Gobernanza de Datos y Data Warehouse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2044528" y="3223895"/>
            <a:ext cx="9144000" cy="1533174"/>
          </a:xfrm>
          <a:prstGeom prst="rect">
            <a:avLst/>
          </a:prstGeom>
          <a:solidFill>
            <a:srgbClr val="E7F1F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3"/>
          <p:cNvSpPr/>
          <p:nvPr/>
        </p:nvSpPr>
        <p:spPr>
          <a:xfrm>
            <a:off x="2318848" y="3406775"/>
            <a:ext cx="8611340" cy="34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318848" y="3818255"/>
            <a:ext cx="8611340" cy="919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 actual de las empresas para organizar sus datos; implica preparar Data Warehouses y Data Marts para centralizar la información.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2044528" y="4970639"/>
            <a:ext cx="9144000" cy="1533174"/>
          </a:xfrm>
          <a:prstGeom prst="rect">
            <a:avLst/>
          </a:prstGeom>
          <a:solidFill>
            <a:srgbClr val="0F2A4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2318848" y="5153519"/>
            <a:ext cx="8611340" cy="34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para el científico de datos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318848" y="5564999"/>
            <a:ext cx="8611340" cy="919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estructuras entregan información ya limpia, pertinente y unificada, facilitando la creación de modelos de negocio precisos.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Automatización de Datos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645728" y="6845159"/>
            <a:ext cx="355107" cy="229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13" name="Imagen 12" descr="Qué es el almacén de datos unificado? | Databricks">
            <a:extLst>
              <a:ext uri="{FF2B5EF4-FFF2-40B4-BE49-F238E27FC236}">
                <a16:creationId xmlns:a16="http://schemas.microsoft.com/office/drawing/2014/main" id="{601F06C8-D2C2-9D5B-7ACA-E1BF09887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434" y="1199197"/>
            <a:ext cx="2921494" cy="1877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ETL para Analítica y Machine Learning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26060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F2A4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datos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560320" y="3063240"/>
            <a:ext cx="320040" cy="274320"/>
          </a:xfrm>
          <a:prstGeom prst="rightArrow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880360" y="26060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880360" y="260604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00600" y="3063240"/>
            <a:ext cx="320040" cy="274320"/>
          </a:xfrm>
          <a:prstGeom prst="rightArrow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5120640" y="26060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5120640" y="260604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040880" y="3063240"/>
            <a:ext cx="320040" cy="274320"/>
          </a:xfrm>
          <a:prstGeom prst="rightArrow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7360920" y="26060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7360920" y="260604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281160" y="3063240"/>
            <a:ext cx="320040" cy="274320"/>
          </a:xfrm>
          <a:prstGeom prst="rightArrow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9601200" y="26060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F2A4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9601200" y="260604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ML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676186"/>
            <a:ext cx="11109960" cy="1691640"/>
          </a:xfrm>
          <a:prstGeom prst="rect">
            <a:avLst/>
          </a:prstGeom>
          <a:solidFill>
            <a:srgbClr val="F7F9FB"/>
          </a:solidFill>
          <a:ln/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914400" y="485906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moderno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224826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se piensa para que los datos alimenten directamente el entrenamiento o uso de modelos de ML.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485906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Simplificación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5224826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deja de lado el preprocesamiento manual pesado; los datos se toman directamente de una fuente centralizada y confiable.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Automatización de Datos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24" name="Imagen 23" descr="What Is ETL? | SAS">
            <a:extLst>
              <a:ext uri="{FF2B5EF4-FFF2-40B4-BE49-F238E27FC236}">
                <a16:creationId xmlns:a16="http://schemas.microsoft.com/office/drawing/2014/main" id="{DE3EBBFE-6E89-B491-60CB-36E01C62D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71" y="960120"/>
            <a:ext cx="2797978" cy="18186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de ETL e Ingestión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611880" cy="4114800"/>
          </a:xfrm>
          <a:prstGeom prst="rect">
            <a:avLst/>
          </a:prstGeom>
          <a:solidFill>
            <a:srgbClr val="173A5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868680" y="2103120"/>
            <a:ext cx="822960" cy="822960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3"/>
          <p:cNvSpPr/>
          <p:nvPr/>
        </p:nvSpPr>
        <p:spPr>
          <a:xfrm>
            <a:off x="868680" y="31546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Airflow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379476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líder de la Apache Software Foundation para orquestar pipelines de datos mediante código Python (DAGs).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16552" y="1783080"/>
            <a:ext cx="3611880" cy="41148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7"/>
          <p:cNvSpPr/>
          <p:nvPr/>
        </p:nvSpPr>
        <p:spPr>
          <a:xfrm>
            <a:off x="4736592" y="3154680"/>
            <a:ext cx="2971800" cy="5486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Talend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736592" y="3794760"/>
            <a:ext cx="2971800" cy="18288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Opción potente para la integración de datos empresariales.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284464" y="1783080"/>
            <a:ext cx="3611880" cy="4114800"/>
          </a:xfrm>
          <a:prstGeom prst="rect">
            <a:avLst/>
          </a:prstGeom>
          <a:solidFill>
            <a:srgbClr val="173A5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0"/>
          <p:cNvSpPr/>
          <p:nvPr/>
        </p:nvSpPr>
        <p:spPr>
          <a:xfrm>
            <a:off x="8604504" y="2103120"/>
            <a:ext cx="822960" cy="822960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1"/>
          <p:cNvSpPr/>
          <p:nvPr/>
        </p:nvSpPr>
        <p:spPr>
          <a:xfrm>
            <a:off x="8604504" y="31546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Spark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604504" y="379476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fundación Apache ofrece soluciones robustas y gratuitas: Spark para procesamiento masivo y Airflow para orquestación.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Automatización de Datos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20" name="Imagen 19" descr="Google Logo, Apache Airflow, Workflow, Orchestration, Directed Acyclic  Graph, Kubernetes, Data, Computer Software transparent background PNG  clipart | HiClipart">
            <a:extLst>
              <a:ext uri="{FF2B5EF4-FFF2-40B4-BE49-F238E27FC236}">
                <a16:creationId xmlns:a16="http://schemas.microsoft.com/office/drawing/2014/main" id="{4D200DAD-7D36-25A7-32F7-E36A007AA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541" y="2145585"/>
            <a:ext cx="757238" cy="75723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1" name="Imagen 20" descr="Talend Data Integration - Introduction">
            <a:extLst>
              <a:ext uri="{FF2B5EF4-FFF2-40B4-BE49-F238E27FC236}">
                <a16:creationId xmlns:a16="http://schemas.microsoft.com/office/drawing/2014/main" id="{15DCCFD3-06FB-FBE8-E4E3-E3DA4480F2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36591" y="2153417"/>
            <a:ext cx="1873515" cy="749406"/>
          </a:xfrm>
          <a:prstGeom prst="rect">
            <a:avLst/>
          </a:prstGeom>
        </p:spPr>
      </p:pic>
      <p:pic>
        <p:nvPicPr>
          <p:cNvPr id="22" name="Imagen 21" descr="Escalado y optimización de Apache Spark con Instana | IBM">
            <a:extLst>
              <a:ext uri="{FF2B5EF4-FFF2-40B4-BE49-F238E27FC236}">
                <a16:creationId xmlns:a16="http://schemas.microsoft.com/office/drawing/2014/main" id="{70919574-2596-1875-93CF-E17EFCCA62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897483" y="1670856"/>
            <a:ext cx="2237002" cy="16874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 de Acceso: SQL, API y MCP</a:t>
            </a:r>
            <a:endParaRPr lang="en-US" sz="3200" dirty="0"/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13ED3488-905B-611E-42F6-80A89ABFA16C}"/>
              </a:ext>
            </a:extLst>
          </p:cNvPr>
          <p:cNvGrpSpPr/>
          <p:nvPr/>
        </p:nvGrpSpPr>
        <p:grpSpPr>
          <a:xfrm>
            <a:off x="4097602" y="2208551"/>
            <a:ext cx="7177752" cy="2596362"/>
            <a:chOff x="548640" y="1783080"/>
            <a:chExt cx="11347704" cy="2834640"/>
          </a:xfrm>
        </p:grpSpPr>
        <p:sp>
          <p:nvSpPr>
            <p:cNvPr id="3" name="Shape 1"/>
            <p:cNvSpPr/>
            <p:nvPr/>
          </p:nvSpPr>
          <p:spPr>
            <a:xfrm>
              <a:off x="548640" y="1783080"/>
              <a:ext cx="3611880" cy="2834640"/>
            </a:xfrm>
            <a:prstGeom prst="rect">
              <a:avLst/>
            </a:prstGeom>
            <a:solidFill>
              <a:srgbClr val="FFC000"/>
            </a:solidFill>
            <a:ln/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Shape 2"/>
            <p:cNvSpPr/>
            <p:nvPr/>
          </p:nvSpPr>
          <p:spPr>
            <a:xfrm>
              <a:off x="822960" y="2057400"/>
              <a:ext cx="731520" cy="73152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/>
          </p:spPr>
          <p:txBody>
            <a:bodyPr/>
            <a:lstStyle/>
            <a:p>
              <a:endParaRPr lang="es-CO"/>
            </a:p>
          </p:txBody>
        </p:sp>
        <p:pic>
          <p:nvPicPr>
            <p:cNvPr id="5" name="Image 0" descr="/home/claude/docker_pptx/icon_database.png"/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98525" y="2232964"/>
              <a:ext cx="380390" cy="380390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822960" y="2971800"/>
              <a:ext cx="30632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2A4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Consultas directas (SQL)</a:t>
              </a:r>
              <a:endParaRPr lang="en-US" sz="16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822960" y="3474720"/>
              <a:ext cx="3063240" cy="10515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25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Método tradicional para consultar bases de datos relacionales de forma estructurada.</a:t>
              </a:r>
              <a:endParaRPr lang="en-US" sz="1250" dirty="0"/>
            </a:p>
          </p:txBody>
        </p:sp>
        <p:sp>
          <p:nvSpPr>
            <p:cNvPr id="8" name="Shape 5"/>
            <p:cNvSpPr/>
            <p:nvPr/>
          </p:nvSpPr>
          <p:spPr>
            <a:xfrm>
              <a:off x="4416552" y="1783080"/>
              <a:ext cx="3611880" cy="2834640"/>
            </a:xfrm>
            <a:prstGeom prst="rect">
              <a:avLst/>
            </a:prstGeom>
            <a:solidFill>
              <a:srgbClr val="F7F9FB"/>
            </a:solidFill>
            <a:ln/>
          </p:spPr>
          <p:txBody>
            <a:bodyPr/>
            <a:lstStyle/>
            <a:p>
              <a:endParaRPr lang="es-CO"/>
            </a:p>
          </p:txBody>
        </p:sp>
        <p:sp>
          <p:nvSpPr>
            <p:cNvPr id="9" name="Shape 6"/>
            <p:cNvSpPr/>
            <p:nvPr/>
          </p:nvSpPr>
          <p:spPr>
            <a:xfrm>
              <a:off x="4690872" y="2057400"/>
              <a:ext cx="731520" cy="731520"/>
            </a:xfrm>
            <a:prstGeom prst="ellipse">
              <a:avLst/>
            </a:prstGeom>
            <a:solidFill>
              <a:srgbClr val="1C7293"/>
            </a:solidFill>
            <a:ln/>
          </p:spPr>
          <p:txBody>
            <a:bodyPr/>
            <a:lstStyle/>
            <a:p>
              <a:endParaRPr lang="es-CO"/>
            </a:p>
          </p:txBody>
        </p:sp>
        <p:pic>
          <p:nvPicPr>
            <p:cNvPr id="10" name="Image 1" descr="/home/claude/docker_pptx/icon_network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66437" y="2232965"/>
              <a:ext cx="380390" cy="380390"/>
            </a:xfrm>
            <a:prstGeom prst="rect">
              <a:avLst/>
            </a:prstGeom>
          </p:spPr>
        </p:pic>
        <p:sp>
          <p:nvSpPr>
            <p:cNvPr id="11" name="Text 7"/>
            <p:cNvSpPr/>
            <p:nvPr/>
          </p:nvSpPr>
          <p:spPr>
            <a:xfrm>
              <a:off x="4690872" y="2971800"/>
              <a:ext cx="30632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2A4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API / REST</a:t>
              </a:r>
              <a:endParaRPr lang="en-US" sz="1600" dirty="0"/>
            </a:p>
          </p:txBody>
        </p:sp>
        <p:sp>
          <p:nvSpPr>
            <p:cNvPr id="12" name="Text 8"/>
            <p:cNvSpPr/>
            <p:nvPr/>
          </p:nvSpPr>
          <p:spPr>
            <a:xfrm>
              <a:off x="4690872" y="3474720"/>
              <a:ext cx="3063240" cy="10515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250" dirty="0">
                  <a:solidFill>
                    <a:srgbClr val="1B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Interfaces tradicionales para conectar aplicaciones y obtener datos entre sistemas.</a:t>
              </a:r>
              <a:endParaRPr lang="en-US" sz="1250" dirty="0"/>
            </a:p>
          </p:txBody>
        </p:sp>
        <p:sp>
          <p:nvSpPr>
            <p:cNvPr id="13" name="Shape 9"/>
            <p:cNvSpPr/>
            <p:nvPr/>
          </p:nvSpPr>
          <p:spPr>
            <a:xfrm>
              <a:off x="8284464" y="1783080"/>
              <a:ext cx="3611880" cy="2834640"/>
            </a:xfrm>
            <a:prstGeom prst="rect">
              <a:avLst/>
            </a:prstGeom>
            <a:solidFill>
              <a:srgbClr val="0F2A43"/>
            </a:solidFill>
            <a:ln/>
          </p:spPr>
          <p:txBody>
            <a:bodyPr/>
            <a:lstStyle/>
            <a:p>
              <a:endParaRPr lang="es-CO"/>
            </a:p>
          </p:txBody>
        </p:sp>
        <p:sp>
          <p:nvSpPr>
            <p:cNvPr id="14" name="Shape 10"/>
            <p:cNvSpPr/>
            <p:nvPr/>
          </p:nvSpPr>
          <p:spPr>
            <a:xfrm>
              <a:off x="8558784" y="2057400"/>
              <a:ext cx="731520" cy="731520"/>
            </a:xfrm>
            <a:prstGeom prst="ellipse">
              <a:avLst/>
            </a:prstGeom>
            <a:solidFill>
              <a:srgbClr val="F2A65A"/>
            </a:solidFill>
            <a:ln/>
          </p:spPr>
          <p:txBody>
            <a:bodyPr/>
            <a:lstStyle/>
            <a:p>
              <a:endParaRPr lang="es-CO"/>
            </a:p>
          </p:txBody>
        </p:sp>
        <p:pic>
          <p:nvPicPr>
            <p:cNvPr id="15" name="Image 2" descr="/home/claude/docker_pptx/icon_exchan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34349" y="2232965"/>
              <a:ext cx="380390" cy="380390"/>
            </a:xfrm>
            <a:prstGeom prst="rect">
              <a:avLst/>
            </a:prstGeom>
          </p:spPr>
        </p:pic>
        <p:sp>
          <p:nvSpPr>
            <p:cNvPr id="16" name="Text 11"/>
            <p:cNvSpPr/>
            <p:nvPr/>
          </p:nvSpPr>
          <p:spPr>
            <a:xfrm>
              <a:off x="8558784" y="2971800"/>
              <a:ext cx="30632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MCP</a:t>
              </a:r>
              <a:endParaRPr lang="en-US" sz="1600" dirty="0"/>
            </a:p>
          </p:txBody>
        </p:sp>
        <p:sp>
          <p:nvSpPr>
            <p:cNvPr id="17" name="Text 12"/>
            <p:cNvSpPr/>
            <p:nvPr/>
          </p:nvSpPr>
          <p:spPr>
            <a:xfrm>
              <a:off x="8558784" y="3474720"/>
              <a:ext cx="3063240" cy="10515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250" dirty="0">
                  <a:solidFill>
                    <a:srgbClr val="D7E3E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 Context Protocol: el nuevo estándar, como un “USB-C para IA”, que actúa como adaptador de lenguaje natural.</a:t>
              </a:r>
              <a:endParaRPr lang="en-US" sz="1250" dirty="0"/>
            </a:p>
          </p:txBody>
        </p:sp>
      </p:grpSp>
      <p:sp>
        <p:nvSpPr>
          <p:cNvPr id="18" name="Shape 13"/>
          <p:cNvSpPr/>
          <p:nvPr/>
        </p:nvSpPr>
        <p:spPr>
          <a:xfrm>
            <a:off x="320040" y="5568991"/>
            <a:ext cx="11109960" cy="1005840"/>
          </a:xfrm>
          <a:prstGeom prst="rect">
            <a:avLst/>
          </a:prstGeom>
          <a:solidFill>
            <a:srgbClr val="E7F1F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4"/>
          <p:cNvSpPr/>
          <p:nvPr/>
        </p:nvSpPr>
        <p:spPr>
          <a:xfrm>
            <a:off x="640080" y="57150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de MCP: permite que las aplicaciones se conecten a bases de datos o herramientas de forma universal, abstrayendo la complejidad de las APIs tradicionales para que los modelos de IA interactúen con los datos de forma intuitiva.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Automatización de Datos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23" name="Imagen 22" descr="API vs MCP Comparación visual y conceptual entre APIs tradicionales y MCP  (Model Context Protocol), enfocada en explicar cómo cada uno facilita la  comunicación entre sistemas y modelos de inteligencia artificial dentro">
            <a:extLst>
              <a:ext uri="{FF2B5EF4-FFF2-40B4-BE49-F238E27FC236}">
                <a16:creationId xmlns:a16="http://schemas.microsoft.com/office/drawing/2014/main" id="{5BD6E4B9-1CA1-91AC-3B7E-54B02155FB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259407"/>
            <a:ext cx="3034448" cy="40721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0A3F8ED-F5BA-455E-E016-5D1C4543D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85" y="76649"/>
            <a:ext cx="11790277" cy="6436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151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 Práctico: Preparación del Entorno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1 a 4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de carpetas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371600" y="214884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una carpeta raíz llamada paradigmas y dentro las subcarpetas: airflow, datos, mongodb, mysql y python.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8346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de datos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371600" y="320040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 los archivos .sql y .csv (Netflix, Awards, etc.) en la carpeta mysql y sus subcarpetas según las instrucciones.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48640" y="3931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38862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Docker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371600" y="425196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el archivo docker-compose.yml en la raíz, definiendo los servicios MySQL (puerto 3310), MongoDB y Airflow.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548640" y="4983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49377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Personalización de Airflow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371600" y="530352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 Dockerfile en la carpeta airflow para instalar pandas y pymysql, ya que la imagen oficial no los incluye.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Automatización de Datos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 Práctico: Despliegue y Verificación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5 a 8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94360" cy="594360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virtual en VS Code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371600" y="214884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 entorno virtual (.venv) usando el archivo requirements.txt para asegurar que las librerías de Python funcionen localmente.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594360" cy="594360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8346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371600" y="320040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terminal de VS Code, ejecuta docker compose up -d para levantar los contenedores.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94360" cy="594360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48640" y="3931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38862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 del scheduler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371600" y="425196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al contenedor de Airflow con docker exec -it airflow bash y ejecuta airflow scheduler para procesar las tareas.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594360" cy="594360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548640" y="4983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49377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371600" y="530352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 a Airflow en localhost:8080 (usuario/clave: admin) y verifica las bases de datos en MySQL con SHOW DATABASES;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Automatización de Datos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8961120" y="-457200"/>
            <a:ext cx="3840480" cy="3840480"/>
          </a:xfrm>
          <a:prstGeom prst="rect">
            <a:avLst/>
          </a:prstGeom>
          <a:solidFill>
            <a:srgbClr val="0F2A4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CLAVE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reproducibilidad al dato listo para 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garantiza que el entorno de trabajo sea idéntico para todo el equipo.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960120" y="3017520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ETL automatizado reemplaza el preprocesamiento manual en producción.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886200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960120" y="3703320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gobernanza y los Data Warehouses entregan datos limpios y confiables.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572000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960120" y="4389120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y MCP simplifica la forma en que la IA se conecta con los datos y las herramientas.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Automatización de Datos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1270</Words>
  <Application>Microsoft Office PowerPoint</Application>
  <PresentationFormat>Panorámica</PresentationFormat>
  <Paragraphs>170</Paragraphs>
  <Slides>16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Lato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Alfredo Antonio Diaz Claros</cp:lastModifiedBy>
  <cp:revision>12</cp:revision>
  <dcterms:created xsi:type="dcterms:W3CDTF">2026-07-16T15:40:50Z</dcterms:created>
  <dcterms:modified xsi:type="dcterms:W3CDTF">2026-07-16T17:04:34Z</dcterms:modified>
</cp:coreProperties>
</file>